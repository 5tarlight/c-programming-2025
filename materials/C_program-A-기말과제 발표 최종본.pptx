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66" r:id="rId6"/>
    <p:sldId id="267" r:id="rId7"/>
    <p:sldId id="260" r:id="rId8"/>
    <p:sldId id="261" r:id="rId9"/>
    <p:sldId id="258" r:id="rId10"/>
  </p:sldIdLst>
  <p:sldSz cx="18288000" cy="10287000"/>
  <p:notesSz cx="6858000" cy="9144000"/>
  <p:embeddedFontLst>
    <p:embeddedFont>
      <p:font typeface="Pretendard Bold" panose="020B0600000101010101" charset="-127"/>
      <p:bold r:id="rId12"/>
    </p:embeddedFont>
    <p:embeddedFont>
      <p:font typeface="Pretendard Light" panose="020B0600000101010101" charset="-127"/>
      <p:regular r:id="rId13"/>
    </p:embeddedFont>
    <p:embeddedFont>
      <p:font typeface="Pretendard Medium" panose="020B0600000101010101" charset="-127"/>
      <p:bold r:id="rId14"/>
    </p:embeddedFont>
    <p:embeddedFont>
      <p:font typeface="Pretendard Regular" panose="020B0600000101010101" charset="-127"/>
      <p:regular r:id="rId15"/>
    </p:embeddedFont>
    <p:embeddedFont>
      <p:font typeface="LG Smart UI SemiBold" panose="020B0700000101010101" pitchFamily="50" charset="-127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1EAAC-8FD7-489B-B6C0-A378BE29E49D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3C057-DC5E-46B2-8A76-84369B77C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354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3C057-DC5E-46B2-8A76-84369B77C6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00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Regular" panose="020B0600000101010101" charset="-127"/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Regular" panose="020B0600000101010101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 Regular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 Regular" panose="020B0600000101010101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 Regular" panose="020B0600000101010101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 Regular" panose="020B0600000101010101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 Regular" panose="020B0600000101010101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 Regular" panose="020B0600000101010101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 Regular" panose="020B0600000101010101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2.png"/><Relationship Id="rId21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5.png"/><Relationship Id="rId12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6.png"/><Relationship Id="rId5" Type="http://schemas.openxmlformats.org/officeDocument/2006/relationships/image" Target="../media/image3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0.pn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0.png"/><Relationship Id="rId5" Type="http://schemas.openxmlformats.org/officeDocument/2006/relationships/image" Target="../media/image2.png"/><Relationship Id="rId15" Type="http://schemas.openxmlformats.org/officeDocument/2006/relationships/image" Target="../media/image43.svg"/><Relationship Id="rId10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6.pn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8.png"/><Relationship Id="rId5" Type="http://schemas.openxmlformats.org/officeDocument/2006/relationships/image" Target="../media/image3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79750" y="5486400"/>
            <a:ext cx="122301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4500" b="0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Random maze game – </a:t>
            </a:r>
            <a:r>
              <a:rPr lang="ko-KR" altLang="en-US" sz="4500" b="0" i="0" u="none" strike="noStrike" dirty="0" err="1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곽고성</a:t>
            </a:r>
            <a:r>
              <a:rPr lang="en-US" altLang="ko-KR" sz="4500" b="0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, </a:t>
            </a:r>
            <a:r>
              <a:rPr lang="ko-KR" altLang="en-US" sz="4500" dirty="0" err="1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김규산</a:t>
            </a:r>
            <a:r>
              <a:rPr lang="en-US" altLang="ko-KR" sz="4500" dirty="0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, </a:t>
            </a:r>
            <a:r>
              <a:rPr lang="ko-KR" altLang="en-US" sz="4500" dirty="0" err="1">
                <a:solidFill>
                  <a:srgbClr val="494A4E"/>
                </a:solidFill>
                <a:latin typeface="Pretendard Regular" panose="020B0600000101010101" charset="-127"/>
                <a:ea typeface="Pretendard Medium"/>
              </a:rPr>
              <a:t>김규원</a:t>
            </a:r>
            <a:endParaRPr lang="ko-KR" sz="4500" b="0" i="0" u="none" strike="noStrike" dirty="0">
              <a:solidFill>
                <a:srgbClr val="494A4E"/>
              </a:solidFill>
              <a:latin typeface="Pretendard Regular" panose="020B0600000101010101" charset="-127"/>
              <a:ea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022600" y="3860800"/>
            <a:ext cx="12344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9000" dirty="0">
                <a:solidFill>
                  <a:srgbClr val="000000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Random Maze Runner</a:t>
            </a:r>
            <a:endParaRPr lang="ko-KR" sz="9000" b="0" i="0" u="none" strike="noStrike" dirty="0">
              <a:solidFill>
                <a:srgbClr val="000000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Contents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1186" y="5148943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3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763002" y="337049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How to play </a:t>
            </a:r>
            <a:r>
              <a:rPr lang="ko-KR" altLang="en-US" sz="3200" b="0" i="0" u="none" strike="noStrike" dirty="0" err="1">
                <a:solidFill>
                  <a:srgbClr val="494A4E"/>
                </a:solidFill>
                <a:latin typeface="Pretendard Medium"/>
              </a:rPr>
              <a:t>ㅡ</a:t>
            </a: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 game </a:t>
            </a:r>
            <a:r>
              <a:rPr lang="ko-KR" altLang="en-US" sz="3200" b="0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방식</a:t>
            </a:r>
            <a:endParaRPr lang="en-US" sz="3200" b="0" i="0" u="none" strike="noStrike" dirty="0">
              <a:solidFill>
                <a:srgbClr val="494A4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21186" y="603885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4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63002" y="4260396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200" dirty="0">
                <a:solidFill>
                  <a:srgbClr val="494A4E"/>
                </a:solidFill>
                <a:latin typeface="Pretendard Medium"/>
              </a:rPr>
              <a:t>Features </a:t>
            </a:r>
            <a:r>
              <a:rPr lang="ko-KR" altLang="en-US" sz="3200" dirty="0" err="1">
                <a:solidFill>
                  <a:srgbClr val="494A4E"/>
                </a:solidFill>
                <a:latin typeface="Pretendard Medium"/>
              </a:rPr>
              <a:t>ㅡ</a:t>
            </a:r>
            <a:r>
              <a:rPr lang="ko-KR" altLang="en-US" sz="3200" dirty="0">
                <a:solidFill>
                  <a:srgbClr val="494A4E"/>
                </a:solidFill>
                <a:latin typeface="Pretendard Medium"/>
              </a:rPr>
              <a:t> </a:t>
            </a:r>
            <a:r>
              <a:rPr lang="ko-KR" altLang="en-US" sz="3200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물리적 구현 요소</a:t>
            </a:r>
            <a:r>
              <a:rPr lang="en-US" sz="3200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  </a:t>
            </a:r>
            <a:endParaRPr lang="en-US" sz="3200" b="0" i="0" u="none" strike="noStrike" dirty="0">
              <a:solidFill>
                <a:srgbClr val="494A4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221186" y="692785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5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48486" y="5148943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Random Maze Generator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1186" y="781685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6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748486" y="603885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dirty="0">
                <a:solidFill>
                  <a:srgbClr val="494A4E"/>
                </a:solidFill>
                <a:latin typeface="Pretendard Medium"/>
              </a:rPr>
              <a:t>Scoring &amp; Ranking</a:t>
            </a:r>
            <a:endParaRPr lang="en-US" sz="32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10300" y="870585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7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63002" y="870585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</a:rPr>
              <a:t>Q&amp;A</a:t>
            </a:r>
            <a:endParaRPr lang="en-US" sz="32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66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Contents</a:t>
            </a:r>
            <a:endParaRPr lang="ko-KR" sz="66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36D361DA-6FC7-B38E-BE7B-31CA57242F92}"/>
              </a:ext>
            </a:extLst>
          </p:cNvPr>
          <p:cNvSpPr txBox="1"/>
          <p:nvPr/>
        </p:nvSpPr>
        <p:spPr>
          <a:xfrm>
            <a:off x="6210300" y="337049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sz="3200" b="0" i="0" u="none" strike="noStrike" dirty="0">
                <a:solidFill>
                  <a:srgbClr val="242629"/>
                </a:solidFill>
                <a:latin typeface="Pretendard Bold"/>
              </a:rPr>
              <a:t>1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6F82D6FB-9DE0-8E2F-D76D-8F20E489ACC1}"/>
              </a:ext>
            </a:extLst>
          </p:cNvPr>
          <p:cNvSpPr txBox="1"/>
          <p:nvPr/>
        </p:nvSpPr>
        <p:spPr>
          <a:xfrm>
            <a:off x="6237515" y="4260396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latin typeface="Pretendard Regular" panose="020B0600000101010101" charset="-127"/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2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05E1C7F1-CF0B-80FF-F238-C8A18C6405D6}"/>
              </a:ext>
            </a:extLst>
          </p:cNvPr>
          <p:cNvSpPr txBox="1"/>
          <p:nvPr/>
        </p:nvSpPr>
        <p:spPr>
          <a:xfrm>
            <a:off x="8763002" y="6956876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Development Schedule</a:t>
            </a: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5732C7EF-C222-F04B-CA9D-D536550AFC91}"/>
              </a:ext>
            </a:extLst>
          </p:cNvPr>
          <p:cNvSpPr txBox="1"/>
          <p:nvPr/>
        </p:nvSpPr>
        <p:spPr>
          <a:xfrm>
            <a:off x="8763002" y="7831363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dirty="0">
                <a:solidFill>
                  <a:srgbClr val="494A4E"/>
                </a:solidFill>
                <a:latin typeface="Pretendard Medium"/>
                <a:ea typeface="Pretendard Medium"/>
              </a:rPr>
              <a:t>Role</a:t>
            </a:r>
            <a:endParaRPr lang="en-US" sz="32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3400" y="3721100"/>
            <a:ext cx="1003300" cy="100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5473700" y="7734300"/>
            <a:ext cx="35814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방향키로 이동하며 정해진 </a:t>
            </a:r>
            <a:r>
              <a:rPr lang="ko-KR" altLang="en-US" sz="2400" dirty="0" err="1">
                <a:solidFill>
                  <a:srgbClr val="717377"/>
                </a:solidFill>
                <a:latin typeface="Pretendard Regular"/>
                <a:ea typeface="Pretendard Regular"/>
              </a:rPr>
              <a:t>맵을</a:t>
            </a: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 탈출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7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5" name="Picture 15" descr="체크리스트 단색으로 채워진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4262100" y="4508500"/>
            <a:ext cx="1193800" cy="1193800"/>
          </a:xfrm>
          <a:prstGeom prst="rect">
            <a:avLst/>
          </a:prstGeom>
        </p:spPr>
      </p:pic>
      <p:pic>
        <p:nvPicPr>
          <p:cNvPr id="16" name="Picture 16" descr="뒤로 단색으로 채워진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642100" y="4521200"/>
            <a:ext cx="1181100" cy="1181100"/>
          </a:xfrm>
          <a:prstGeom prst="rect">
            <a:avLst/>
          </a:prstGeom>
        </p:spPr>
      </p:pic>
      <p:pic>
        <p:nvPicPr>
          <p:cNvPr id="17" name="Picture 17" descr="브라유 점자 단색으로 채워진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2971800" y="4660900"/>
            <a:ext cx="914400" cy="914400"/>
          </a:xfrm>
          <a:prstGeom prst="rect">
            <a:avLst/>
          </a:prstGeom>
        </p:spPr>
      </p:pic>
      <p:pic>
        <p:nvPicPr>
          <p:cNvPr id="18" name="Picture 18" descr="가로 막대형 차트 단색으로 채워진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0541000" y="4597400"/>
            <a:ext cx="10160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49900" y="3721100"/>
            <a:ext cx="1003300" cy="1003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3400" y="3721100"/>
            <a:ext cx="1003300" cy="1003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33400" y="3721100"/>
            <a:ext cx="1003300" cy="1003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01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0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499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3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1</a:t>
            </a:r>
            <a:r>
              <a:rPr lang="ko-KR" sz="35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단계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76400" y="7734300"/>
            <a:ext cx="35814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정해진 크기의 랜덤 맵 생성</a:t>
            </a:r>
            <a:endParaRPr lang="en-US" altLang="ko-KR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48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2</a:t>
            </a:r>
            <a:r>
              <a:rPr lang="ko-KR" sz="35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단계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9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3</a:t>
            </a:r>
            <a:r>
              <a:rPr lang="ko-KR" sz="35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단계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83700" y="7734300"/>
            <a:ext cx="3581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걸린 시간</a:t>
            </a:r>
            <a:r>
              <a:rPr lang="en-US" altLang="ko-KR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, </a:t>
            </a:r>
            <a:r>
              <a:rPr lang="ko-KR" altLang="en-US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이동 거리를 집계하여 점수 측정</a:t>
            </a:r>
            <a:endParaRPr lang="ko-KR" sz="2400" b="0" i="0" u="none" strike="noStrike" dirty="0">
              <a:solidFill>
                <a:srgbClr val="717377"/>
              </a:solidFill>
              <a:latin typeface="Pretendard Regular" panose="020B0600000101010101" charset="-127"/>
              <a:ea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0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 dirty="0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500" b="0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단계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93700" y="7734300"/>
            <a:ext cx="3581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점수 정렬 및 랭킹 생성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147129" y="1990271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7200" b="1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How to play</a:t>
            </a:r>
            <a:endParaRPr lang="ko-KR" sz="72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4223-06B4-C669-7A5B-B58891F2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38B438-4BC4-B969-3D53-A50F1230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93E8989-D447-574E-83DF-F6EC67D55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EEAD2AD-394B-DD4C-9CD2-53FE46310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AECDE45-8190-1095-844E-9E6F82D81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B0A4DDC-B971-F4E9-2DC8-60E505704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1316D2B-1FF8-0ED7-F430-15F9BD72D1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9F31E86-FCAB-FE8E-5481-9A3DCF4037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CA194D2-C253-8F11-4A93-F08698B904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" y="41148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76C72F6-CC45-FE0A-17E8-136A37276A5B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02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AB4DC83-7336-3BB7-EE91-571BE4AFC4F8}"/>
              </a:ext>
            </a:extLst>
          </p:cNvPr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8000" b="1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Features</a:t>
            </a:r>
            <a:endParaRPr lang="ko-KR" sz="80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AC31B88-779D-88CD-9C8E-83143D137E72}"/>
              </a:ext>
            </a:extLst>
          </p:cNvPr>
          <p:cNvSpPr txBox="1"/>
          <p:nvPr/>
        </p:nvSpPr>
        <p:spPr>
          <a:xfrm>
            <a:off x="1460500" y="4559300"/>
            <a:ext cx="15367000" cy="416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endParaRPr lang="en-US" sz="22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0D7EE4-BC51-4489-A18E-3861DF687AB9}"/>
              </a:ext>
            </a:extLst>
          </p:cNvPr>
          <p:cNvSpPr txBox="1"/>
          <p:nvPr/>
        </p:nvSpPr>
        <p:spPr>
          <a:xfrm>
            <a:off x="1460500" y="4559300"/>
            <a:ext cx="15367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altLang="ko-KR" sz="4400" dirty="0">
                <a:latin typeface="Pretendard Regular" panose="020B0600000101010101" charset="-127"/>
              </a:rPr>
              <a:t>Ui</a:t>
            </a:r>
          </a:p>
          <a:p>
            <a:endParaRPr lang="en-US" altLang="ko-KR" sz="4400" dirty="0">
              <a:latin typeface="Pretendard Regular" panose="020B0600000101010101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4400" b="1" u="sng" dirty="0">
                <a:latin typeface="Pretendard Regular" panose="020B0600000101010101" charset="-127"/>
              </a:rPr>
              <a:t>random maze generator</a:t>
            </a:r>
          </a:p>
          <a:p>
            <a:endParaRPr lang="en-US" altLang="ko-KR" sz="4400" b="1" dirty="0">
              <a:latin typeface="Pretendard Regular" panose="020B0600000101010101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4400" b="1" u="sng" dirty="0">
                <a:latin typeface="Pretendard Regular" panose="020B0600000101010101" charset="-127"/>
              </a:rPr>
              <a:t>Scoring &amp; ranking</a:t>
            </a:r>
          </a:p>
          <a:p>
            <a:endParaRPr lang="ko-KR" altLang="en-US" sz="4400" b="1" dirty="0">
              <a:latin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77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17E1-3A2A-C05A-63C6-BEAE5701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975AA4-4674-1FC7-5E5D-1E7631846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03FA50F1-521F-3BBD-1205-4FC70A14C66A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목표를</a:t>
            </a:r>
            <a:r>
              <a:rPr lang="en-US" sz="4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설명하는</a:t>
            </a:r>
            <a:r>
              <a:rPr lang="en-US" sz="4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 dirty="0" err="1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인포그래픽</a:t>
            </a:r>
            <a:endParaRPr lang="ko-KR" sz="4000" b="0" i="0" u="none" strike="noStrike" dirty="0">
              <a:solidFill>
                <a:srgbClr val="FFFFFF"/>
              </a:solidFill>
              <a:latin typeface="Pretendard Regular" panose="020B0600000101010101" charset="-127"/>
              <a:ea typeface="Pretendard 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69FB38C-6902-86A0-680F-EA049FD3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930400"/>
            <a:ext cx="5295900" cy="7340600"/>
          </a:xfrm>
          <a:prstGeom prst="rect">
            <a:avLst/>
          </a:prstGeom>
          <a:effectLst>
            <a:outerShdw blurRad="348986" dist="203640" dir="4020000">
              <a:srgbClr val="000000">
                <a:alpha val="30000"/>
              </a:srgbClr>
            </a:outerShdw>
          </a:effec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B08E5B-017E-EC88-AE5E-751EAA9E0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1930400"/>
            <a:ext cx="10731500" cy="34798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80308F8-92C9-5096-C8FD-82776B556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5821621"/>
            <a:ext cx="10731500" cy="34798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079639F-F103-5DAD-DACA-54CB94F56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5207000"/>
            <a:ext cx="774700" cy="7747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F84AE46-2EE0-83B7-6F3F-25BDF490D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3C316D1-C1C3-748C-B52B-D1EEE9F424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830BC92-A9BD-E04E-1D04-9F1AEDAD09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197EEB5D-E8D7-F7C0-30ED-F84020D333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87A37CE9-2D01-0929-2ABB-E5C0D10122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9CD4D3F-94C0-E492-514F-2D793FB532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4C7D3D1-EB90-02D6-2C83-D0D3B3699A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4600" y="2400300"/>
            <a:ext cx="571500" cy="5715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FB3316F-EBB3-9B62-0AAC-04274B7C283A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03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20D09D8-FD7A-5E8D-9DB3-380B9DEF3211}"/>
              </a:ext>
            </a:extLst>
          </p:cNvPr>
          <p:cNvSpPr txBox="1"/>
          <p:nvPr/>
        </p:nvSpPr>
        <p:spPr>
          <a:xfrm>
            <a:off x="1562100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1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Random Maze</a:t>
            </a:r>
            <a:endParaRPr lang="ko-KR" sz="3500" b="1" i="0" u="none" strike="noStrike" dirty="0">
              <a:solidFill>
                <a:srgbClr val="FFFFFF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80DDDE7-DAC7-5B22-BE95-A598741DA3D2}"/>
              </a:ext>
            </a:extLst>
          </p:cNvPr>
          <p:cNvSpPr txBox="1"/>
          <p:nvPr/>
        </p:nvSpPr>
        <p:spPr>
          <a:xfrm>
            <a:off x="1562100" y="3314700"/>
            <a:ext cx="414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dirty="0">
                <a:solidFill>
                  <a:srgbClr val="EEEEEE"/>
                </a:solidFill>
                <a:latin typeface="Pretendard Medium"/>
                <a:ea typeface="Pretendard Medium"/>
              </a:rPr>
              <a:t>어떻게 </a:t>
            </a:r>
            <a:r>
              <a:rPr lang="ko-KR" altLang="en-US" sz="3000" dirty="0" err="1">
                <a:solidFill>
                  <a:srgbClr val="EEEEEE"/>
                </a:solidFill>
                <a:latin typeface="Pretendard Medium"/>
                <a:ea typeface="Pretendard Medium"/>
              </a:rPr>
              <a:t>랜덤한</a:t>
            </a:r>
            <a:r>
              <a:rPr lang="ko-KR" altLang="en-US" sz="3000" dirty="0">
                <a:solidFill>
                  <a:srgbClr val="EEEEEE"/>
                </a:solidFill>
                <a:latin typeface="Pretendard Medium"/>
                <a:ea typeface="Pretendard Medium"/>
              </a:rPr>
              <a:t> 미로를 생성 할까</a:t>
            </a:r>
            <a:r>
              <a:rPr lang="en-US" altLang="ko-KR" sz="3000" dirty="0">
                <a:solidFill>
                  <a:srgbClr val="EEEEEE"/>
                </a:solidFill>
                <a:latin typeface="Pretendard Medium"/>
                <a:ea typeface="Pretendard Medium"/>
              </a:rPr>
              <a:t>?</a:t>
            </a:r>
            <a:endParaRPr lang="en-US" sz="3000" b="0" i="0" u="none" strike="noStrike" dirty="0">
              <a:solidFill>
                <a:srgbClr val="EEEEEE"/>
              </a:solidFill>
              <a:latin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0AA7D1A-C0A9-C7D4-D84A-E4D157AF7343}"/>
              </a:ext>
            </a:extLst>
          </p:cNvPr>
          <p:cNvSpPr txBox="1"/>
          <p:nvPr/>
        </p:nvSpPr>
        <p:spPr>
          <a:xfrm>
            <a:off x="1562100" y="5702300"/>
            <a:ext cx="41275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</a:rPr>
              <a:t>중복해서 갈 수 없는 하나의 길 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/>
              </a:rPr>
              <a:t>-&gt; 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</a:rPr>
              <a:t>탈출 경로가 하나 밖에 없는 미로 생성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</a:rPr>
              <a:t>매 시행 </a:t>
            </a:r>
            <a:r>
              <a:rPr lang="ko-KR" altLang="en-US" sz="2400" dirty="0">
                <a:solidFill>
                  <a:srgbClr val="C2C2C2"/>
                </a:solidFill>
                <a:latin typeface="Pretendard Regular"/>
              </a:rPr>
              <a:t>마다 길이 다르게 생성 해야 함</a:t>
            </a:r>
            <a:r>
              <a:rPr lang="en-US" altLang="ko-KR" sz="2400" dirty="0">
                <a:solidFill>
                  <a:srgbClr val="C2C2C2"/>
                </a:solidFill>
                <a:latin typeface="Pretendard Regular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도착지로 갈 수 있는 길은 하나로 고정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52AAE69-9DB8-DFA2-8003-877DD03A6C75}"/>
              </a:ext>
            </a:extLst>
          </p:cNvPr>
          <p:cNvSpPr txBox="1"/>
          <p:nvPr/>
        </p:nvSpPr>
        <p:spPr>
          <a:xfrm>
            <a:off x="7353300" y="2413000"/>
            <a:ext cx="9817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en-US" altLang="ko-KR" sz="35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Kruskal’s Algorithm (Union-Find)</a:t>
            </a:r>
            <a:endParaRPr lang="ko-KR" altLang="ko-KR" sz="35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  <a:p>
            <a:pPr lvl="0" algn="l">
              <a:lnSpc>
                <a:spcPct val="99600"/>
              </a:lnSpc>
            </a:pPr>
            <a:endParaRPr lang="ko-KR" sz="35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B4C7D03-B9F9-3E15-831F-7FCF596C209E}"/>
              </a:ext>
            </a:extLst>
          </p:cNvPr>
          <p:cNvSpPr txBox="1"/>
          <p:nvPr/>
        </p:nvSpPr>
        <p:spPr>
          <a:xfrm>
            <a:off x="7353300" y="3314700"/>
            <a:ext cx="9791700" cy="165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  <a:ea typeface="Pretendard Regular"/>
              </a:rPr>
              <a:t>각 칸을 하나의 노드로써 정의</a:t>
            </a:r>
            <a:r>
              <a:rPr lang="en-US" altLang="ko-KR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두 노드를 선택해 같은 트리로 연결</a:t>
            </a:r>
            <a:r>
              <a:rPr lang="en-US" altLang="ko-KR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  <a:ea typeface="Pretendard Regular"/>
              </a:rPr>
              <a:t>이미 같은 트리에 포함돼 있으면 연결 하지 않음으로써 사이클링 예방</a:t>
            </a: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비용이 적은 간선부터 순차적으로 하여 가장 적은 비용으로 모든 노드 연결</a:t>
            </a:r>
            <a:r>
              <a:rPr lang="en-US" altLang="ko-KR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.</a:t>
            </a:r>
            <a:endParaRPr lang="ko-KR" sz="2400" b="0" i="0" u="none" strike="noStrike" dirty="0">
              <a:solidFill>
                <a:srgbClr val="717377"/>
              </a:solidFill>
              <a:latin typeface="Pretendard Regular" panose="020B0600000101010101" charset="-127"/>
              <a:ea typeface="Pretendard Regula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4845132-9061-C675-B1BE-475E685C2483}"/>
              </a:ext>
            </a:extLst>
          </p:cNvPr>
          <p:cNvSpPr txBox="1"/>
          <p:nvPr/>
        </p:nvSpPr>
        <p:spPr>
          <a:xfrm>
            <a:off x="7353300" y="6261100"/>
            <a:ext cx="9817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Random Select</a:t>
            </a:r>
            <a:endParaRPr lang="ko-KR" sz="35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C0E7A51-8657-405E-300E-5625EC6A2B76}"/>
              </a:ext>
            </a:extLst>
          </p:cNvPr>
          <p:cNvSpPr txBox="1"/>
          <p:nvPr/>
        </p:nvSpPr>
        <p:spPr>
          <a:xfrm>
            <a:off x="7353300" y="7162800"/>
            <a:ext cx="9791700" cy="165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모든 간선의 가중치를 </a:t>
            </a:r>
            <a:r>
              <a:rPr lang="en-US" altLang="ko-KR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1</a:t>
            </a: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로 고정 시킴</a:t>
            </a:r>
            <a:r>
              <a:rPr lang="en-US" altLang="ko-KR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간선의 가중치가 같을 때</a:t>
            </a:r>
            <a:r>
              <a:rPr lang="en-US" altLang="ko-KR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랜덤하게 선택</a:t>
            </a:r>
            <a:r>
              <a:rPr 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  <a:ea typeface="Pretendard Regular"/>
              </a:rPr>
              <a:t>매 시행 별 랜덤 미로 생성</a:t>
            </a: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702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8E0B-3546-C5E6-2136-6EE9A679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29AA33A-B7D2-67AF-B30A-BE982F438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E421BD7-10E2-7587-0EC8-7DA2DC243AD3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목표를</a:t>
            </a:r>
            <a:r>
              <a:rPr lang="en-US" sz="4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설명하는</a:t>
            </a:r>
            <a:r>
              <a:rPr lang="en-US" sz="40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 dirty="0" err="1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인포그래픽</a:t>
            </a:r>
            <a:endParaRPr lang="ko-KR" sz="4000" b="0" i="0" u="none" strike="noStrike" dirty="0">
              <a:solidFill>
                <a:srgbClr val="FFFFFF"/>
              </a:solidFill>
              <a:latin typeface="Pretendard Regular" panose="020B0600000101010101" charset="-127"/>
              <a:ea typeface="Pretendard 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F32E1B-DB7F-5D16-FCA4-7F7676FDB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930400"/>
            <a:ext cx="5295900" cy="7340600"/>
          </a:xfrm>
          <a:prstGeom prst="rect">
            <a:avLst/>
          </a:prstGeom>
          <a:effectLst>
            <a:outerShdw blurRad="348986" dist="203640" dir="4020000">
              <a:srgbClr val="000000">
                <a:alpha val="30000"/>
              </a:srgbClr>
            </a:outerShdw>
          </a:effec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C531CDA-DC11-C17C-D448-E010414D5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1930400"/>
            <a:ext cx="10731500" cy="34798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B95CAE1-6AE0-A6C8-E07D-DBA667C65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5778500"/>
            <a:ext cx="10731500" cy="34798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8A7C94B-EBA3-3BAE-0AD3-B02E4FC6D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5207000"/>
            <a:ext cx="774700" cy="7747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FD6DFBE-B089-4E22-3564-EEDE55952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00FCE18-9311-04D9-48DF-CF53938F30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4D28DF6-223D-076B-C87C-0051569640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17DF3C-AFCC-D785-ACE7-2E0802663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8325B68-8117-3C21-FDB4-B21C3D1BE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1A713210-F487-9624-D8D3-41F96FE63E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3DD0417-9DDF-7C8A-E35E-1DD106EE81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4600" y="2400300"/>
            <a:ext cx="571500" cy="5715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687B2110-0CAC-FE01-F10D-303E9A2F57F5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04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682E1A6-1523-5F70-DF88-6BA41F9333EF}"/>
              </a:ext>
            </a:extLst>
          </p:cNvPr>
          <p:cNvSpPr txBox="1"/>
          <p:nvPr/>
        </p:nvSpPr>
        <p:spPr>
          <a:xfrm>
            <a:off x="1562100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1" i="0" u="none" strike="noStrike" dirty="0">
                <a:solidFill>
                  <a:srgbClr val="FFFFFF"/>
                </a:solidFill>
                <a:latin typeface="Pretendard Regular" panose="020B0600000101010101" charset="-127"/>
                <a:ea typeface="Pretendard Bold"/>
              </a:rPr>
              <a:t>Scoring &amp; Ranking</a:t>
            </a:r>
            <a:endParaRPr lang="ko-KR" sz="3500" b="1" i="0" u="none" strike="noStrike" dirty="0">
              <a:solidFill>
                <a:srgbClr val="FFFFFF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AACF12F-0421-5F13-E139-1A7F344B9B50}"/>
              </a:ext>
            </a:extLst>
          </p:cNvPr>
          <p:cNvSpPr txBox="1"/>
          <p:nvPr/>
        </p:nvSpPr>
        <p:spPr>
          <a:xfrm>
            <a:off x="1562100" y="3314700"/>
            <a:ext cx="414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b="0" i="0" u="none" strike="noStrike" dirty="0">
                <a:solidFill>
                  <a:srgbClr val="EEEEEE"/>
                </a:solidFill>
                <a:latin typeface="Pretendard Medium"/>
                <a:ea typeface="Pretendard Medium"/>
              </a:rPr>
              <a:t>점수 측정 방식과 점수 정렬 방법은</a:t>
            </a:r>
            <a:r>
              <a:rPr lang="en-US" altLang="ko-KR" sz="3000" dirty="0">
                <a:solidFill>
                  <a:srgbClr val="EEEEEE"/>
                </a:solidFill>
                <a:latin typeface="Pretendard Medium"/>
                <a:ea typeface="Pretendard Medium"/>
              </a:rPr>
              <a:t>?</a:t>
            </a:r>
            <a:endParaRPr lang="en-US" sz="3000" b="0" i="0" u="none" strike="noStrike" dirty="0">
              <a:solidFill>
                <a:srgbClr val="EEEEEE"/>
              </a:solidFill>
              <a:latin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A27632-8071-A1E2-5F95-EDE75BA338B8}"/>
              </a:ext>
            </a:extLst>
          </p:cNvPr>
          <p:cNvSpPr txBox="1"/>
          <p:nvPr/>
        </p:nvSpPr>
        <p:spPr>
          <a:xfrm>
            <a:off x="1562100" y="5702300"/>
            <a:ext cx="41275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endParaRPr lang="en-US" altLang="ko-KR" sz="2400" b="0" i="0" u="none" strike="noStrike" dirty="0">
              <a:solidFill>
                <a:srgbClr val="C2C2C2"/>
              </a:solidFill>
              <a:latin typeface="Pretendard Regular"/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endParaRPr lang="en-US" altLang="ko-KR" sz="2400" dirty="0">
              <a:solidFill>
                <a:srgbClr val="C2C2C2"/>
              </a:solidFill>
              <a:latin typeface="Pretendard Regular"/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최단 시간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최단 거리를 기준으로 소요 시간과 소요 경로를 점수로 환산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/>
                <a:ea typeface="Pretendard Regular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C2C2C2"/>
                </a:solidFill>
                <a:latin typeface="Pretendard Regular"/>
                <a:ea typeface="Pretendard Regular"/>
              </a:rPr>
              <a:t>점수를 정렬하는 알고리즘</a:t>
            </a:r>
            <a:r>
              <a:rPr lang="en-US" sz="2400" b="0" i="0" u="none" strike="noStrike" dirty="0">
                <a:solidFill>
                  <a:srgbClr val="C2C2C2"/>
                </a:solidFill>
                <a:latin typeface="Pretendard Regular"/>
              </a:rPr>
              <a:t>.</a:t>
            </a: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7798EAD-389E-C808-0632-BE07F5164EBF}"/>
              </a:ext>
            </a:extLst>
          </p:cNvPr>
          <p:cNvSpPr txBox="1"/>
          <p:nvPr/>
        </p:nvSpPr>
        <p:spPr>
          <a:xfrm>
            <a:off x="7353300" y="2413000"/>
            <a:ext cx="9817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Scoring &amp; Short</a:t>
            </a:r>
            <a:r>
              <a:rPr lang="en-US" altLang="ko-KR" sz="3500" b="1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est</a:t>
            </a:r>
            <a:r>
              <a:rPr lang="en-US" altLang="ko-KR" sz="35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 Path</a:t>
            </a:r>
            <a:endParaRPr lang="ko-KR" sz="35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EFCA6CB-CB9A-99F4-07B8-FFD76B49622E}"/>
              </a:ext>
            </a:extLst>
          </p:cNvPr>
          <p:cNvSpPr txBox="1"/>
          <p:nvPr/>
        </p:nvSpPr>
        <p:spPr>
          <a:xfrm>
            <a:off x="7353300" y="3314700"/>
            <a:ext cx="9791700" cy="165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66000"/>
              </a:lnSpc>
              <a:buClr>
                <a:srgbClr val="717377"/>
              </a:buClr>
            </a:pP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0B4F78D-80A1-4740-00DD-93ED026035DE}"/>
              </a:ext>
            </a:extLst>
          </p:cNvPr>
          <p:cNvSpPr txBox="1"/>
          <p:nvPr/>
        </p:nvSpPr>
        <p:spPr>
          <a:xfrm>
            <a:off x="7353300" y="6261100"/>
            <a:ext cx="9817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1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Ranking</a:t>
            </a:r>
            <a:endParaRPr lang="ko-KR" sz="3500" b="1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31F83FC-6A00-623B-1E14-3260A5E7300E}"/>
              </a:ext>
            </a:extLst>
          </p:cNvPr>
          <p:cNvSpPr txBox="1"/>
          <p:nvPr/>
        </p:nvSpPr>
        <p:spPr>
          <a:xfrm>
            <a:off x="7353300" y="7162800"/>
            <a:ext cx="9791700" cy="165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en-US" altLang="ko-KR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Quick Sort: 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기준</a:t>
            </a:r>
            <a:r>
              <a:rPr lang="en-US" altLang="ko-KR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(</a:t>
            </a:r>
            <a:r>
              <a:rPr lang="en-US" altLang="ko-KR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pivot</a:t>
            </a:r>
            <a:r>
              <a:rPr lang="en-US" altLang="ko-KR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)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을 기준으로 작은 값은 앞</a:t>
            </a:r>
            <a:r>
              <a:rPr lang="en-US" altLang="ko-KR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, 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큰 값은 뒤로 </a:t>
            </a:r>
            <a:r>
              <a:rPr lang="ko-KR" altLang="en-US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배치</a:t>
            </a:r>
            <a:r>
              <a:rPr lang="en-US" altLang="ko-KR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. 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 분할된 배열도 같은 방식으로 분할하여 </a:t>
            </a:r>
            <a:r>
              <a:rPr lang="ko-KR" altLang="en-US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정렬</a:t>
            </a:r>
            <a:r>
              <a:rPr lang="en-US" altLang="ko-KR" sz="2400" dirty="0">
                <a:solidFill>
                  <a:srgbClr val="717377"/>
                </a:solidFill>
                <a:latin typeface="Pretendard Regular" panose="020B0600000101010101" charset="-127"/>
                <a:ea typeface="Pretendard Regular"/>
              </a:rPr>
              <a:t>.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697B7BA8-777A-EB10-9674-DF489B8E09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1021" y="3327991"/>
            <a:ext cx="8435621" cy="6223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5CEDC5D-B8EF-E589-DC11-F81154D8DFD6}"/>
              </a:ext>
            </a:extLst>
          </p:cNvPr>
          <p:cNvSpPr txBox="1"/>
          <p:nvPr/>
        </p:nvSpPr>
        <p:spPr>
          <a:xfrm>
            <a:off x="7353300" y="4196470"/>
            <a:ext cx="445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Pretendard Regular" panose="020B0600000101010101" charset="-127"/>
                <a:ea typeface="Pretendard Regular" panose="020B0600000101010101" charset="-127"/>
              </a:rPr>
              <a:t>BFS Algorithm</a:t>
            </a:r>
            <a:endParaRPr lang="ko-KR" altLang="en-US" sz="32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565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5105400"/>
          </a:xfrm>
          <a:prstGeom prst="rect">
            <a:avLst/>
          </a:prstGeom>
          <a:effectLst>
            <a:outerShdw blurRad="292827" dist="186537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53100"/>
            <a:ext cx="17360900" cy="4102100"/>
          </a:xfrm>
          <a:prstGeom prst="rect">
            <a:avLst/>
          </a:prstGeom>
          <a:effectLst>
            <a:outerShdw blurRad="222632" dist="162649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" y="3898900"/>
            <a:ext cx="1333500" cy="609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4300" y="7950200"/>
            <a:ext cx="368300" cy="368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0050" y="7918450"/>
            <a:ext cx="368300" cy="368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0" y="7896678"/>
            <a:ext cx="368300" cy="36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9300" y="7952921"/>
            <a:ext cx="368300" cy="368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20750" y="7918450"/>
            <a:ext cx="368300" cy="368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10429" y="7918450"/>
            <a:ext cx="368300" cy="368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47900" y="8547100"/>
            <a:ext cx="14973300" cy="38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05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79000" y="2095500"/>
            <a:ext cx="7467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b="1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모든 조원의 일정 조율</a:t>
            </a:r>
            <a:r>
              <a:rPr lang="en-US" altLang="ko-KR" sz="3000" b="1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3000" b="1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</a:t>
            </a:r>
            <a:r>
              <a:rPr lang="en-US" altLang="ko-KR" sz="3000" b="1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r>
              <a:rPr lang="ko-KR" altLang="en-US" sz="3000" b="1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목</a:t>
            </a:r>
            <a:r>
              <a:rPr lang="en-US" altLang="ko-KR" sz="3000" b="0" i="0" u="none" strike="noStrike" dirty="0">
                <a:solidFill>
                  <a:srgbClr val="494A4E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sz="3000" b="0" i="0" u="none" strike="noStrike" dirty="0">
              <a:solidFill>
                <a:srgbClr val="494A4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79000" y="2806700"/>
            <a:ext cx="7454900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altLang="en-US" sz="2600" dirty="0">
                <a:solidFill>
                  <a:srgbClr val="717377"/>
                </a:solidFill>
                <a:latin typeface="Pretendard Regular"/>
                <a:ea typeface="Pretendard Regular"/>
              </a:rPr>
              <a:t>프로젝트 범위 및 구현 사항 정의</a:t>
            </a: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altLang="en-US" sz="2600" dirty="0">
                <a:solidFill>
                  <a:srgbClr val="717377"/>
                </a:solidFill>
                <a:latin typeface="Pretendard Regular"/>
                <a:ea typeface="Pretendard Regular"/>
              </a:rPr>
              <a:t>작업 절차 생성 및 개인 별 작업 할당</a:t>
            </a: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altLang="en-US" sz="2600" dirty="0">
                <a:solidFill>
                  <a:srgbClr val="717377"/>
                </a:solidFill>
                <a:latin typeface="Pretendard Regular"/>
                <a:ea typeface="Pretendard Regular"/>
              </a:rPr>
              <a:t>작업 진행 과정 리뷰 및 피드백 반복</a:t>
            </a: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altLang="en-US" sz="2600" dirty="0">
                <a:solidFill>
                  <a:srgbClr val="717377"/>
                </a:solidFill>
                <a:latin typeface="Pretendard Regular"/>
                <a:ea typeface="Pretendard Regular"/>
              </a:rPr>
              <a:t>완성 후 최종 점검 및 발표 준비</a:t>
            </a: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35200" y="7543800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Medium"/>
              </a:rPr>
              <a:t>1,2</a:t>
            </a:r>
            <a:endParaRPr lang="en-US" sz="2000" b="0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083175" y="7547429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Medium"/>
              </a:rPr>
              <a:t>2,3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85100" y="7582807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Medium"/>
              </a:rPr>
              <a:t>3</a:t>
            </a:r>
            <a:endParaRPr lang="en-US" sz="2000" b="0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502900" y="7543800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Medium"/>
              </a:rPr>
              <a:t>3</a:t>
            </a:r>
            <a:endParaRPr lang="en-US" sz="2000" b="0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204825" y="7543800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Medium"/>
              </a:rPr>
              <a:t>3</a:t>
            </a:r>
            <a:endParaRPr lang="en-US" sz="2000" b="0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848693" y="7543800"/>
            <a:ext cx="1193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Medium"/>
              </a:rPr>
              <a:t>4</a:t>
            </a:r>
            <a:endParaRPr lang="en-US" sz="2000" b="0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2352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9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0673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400" dirty="0">
                <a:solidFill>
                  <a:srgbClr val="C2C2C2"/>
                </a:solidFill>
                <a:latin typeface="Pretendard Medium"/>
                <a:ea typeface="Pretendard Medium"/>
              </a:rPr>
              <a:t>10</a:t>
            </a:r>
            <a:r>
              <a:rPr lang="ko-KR" altLang="en-US" sz="2400" dirty="0">
                <a:solidFill>
                  <a:srgbClr val="C2C2C2"/>
                </a:solidFill>
                <a:latin typeface="Pretendard Medium"/>
                <a:ea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7724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400" dirty="0">
                <a:solidFill>
                  <a:srgbClr val="C2C2C2"/>
                </a:solidFill>
                <a:latin typeface="Pretendard Medium"/>
                <a:ea typeface="Pretendard Medium"/>
              </a:rPr>
              <a:t>11</a:t>
            </a:r>
            <a:r>
              <a:rPr lang="ko-KR" altLang="en-US" sz="2400" dirty="0">
                <a:solidFill>
                  <a:srgbClr val="C2C2C2"/>
                </a:solidFill>
                <a:latin typeface="Pretendard Medium"/>
                <a:ea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902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dirty="0">
                <a:solidFill>
                  <a:srgbClr val="C2C2C2"/>
                </a:solidFill>
                <a:latin typeface="Pretendard Medium"/>
              </a:rPr>
              <a:t>12</a:t>
            </a:r>
            <a:r>
              <a:rPr lang="ko-KR" altLang="en-US" sz="2400" dirty="0">
                <a:solidFill>
                  <a:srgbClr val="C2C2C2"/>
                </a:solidFill>
                <a:latin typeface="Pretendard Medium"/>
                <a:ea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2080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dirty="0">
                <a:solidFill>
                  <a:srgbClr val="C2C2C2"/>
                </a:solidFill>
                <a:latin typeface="Pretendard Medium"/>
              </a:rPr>
              <a:t>13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5925800" y="8801100"/>
            <a:ext cx="1206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dirty="0">
                <a:solidFill>
                  <a:srgbClr val="C2C2C2"/>
                </a:solidFill>
                <a:latin typeface="Pretendard Medium"/>
              </a:rPr>
              <a:t>14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Medium"/>
              </a:rPr>
              <a:t>주차</a:t>
            </a:r>
            <a:endParaRPr lang="ko-KR" sz="2400" b="0" i="0" u="none" strike="noStrike" dirty="0">
              <a:solidFill>
                <a:srgbClr val="C2C2C2"/>
              </a:solidFill>
              <a:ea typeface="Pretendard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68400" y="6134100"/>
            <a:ext cx="44323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dirty="0">
                <a:solidFill>
                  <a:srgbClr val="FFFFFF"/>
                </a:solidFill>
                <a:latin typeface="Pretendard Bold" panose="020B0600000101010101" charset="-127"/>
                <a:ea typeface="Pretendard Bold" panose="020B0600000101010101" charset="-127"/>
              </a:rPr>
              <a:t>Schedule</a:t>
            </a:r>
            <a:endParaRPr lang="ko-KR" sz="4000" b="0" i="0" u="none" strike="noStrike" dirty="0">
              <a:solidFill>
                <a:srgbClr val="FFFF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54100" y="2108200"/>
            <a:ext cx="45466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Development</a:t>
            </a:r>
            <a:endParaRPr lang="ko-KR" sz="4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1930400"/>
            <a:ext cx="5295900" cy="7340600"/>
          </a:xfrm>
          <a:prstGeom prst="rect">
            <a:avLst/>
          </a:prstGeom>
          <a:effectLst>
            <a:outerShdw blurRad="348986" dist="203640" dir="4020000">
              <a:srgbClr val="000000">
                <a:alpha val="3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06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62100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500" dirty="0" err="1">
                <a:solidFill>
                  <a:srgbClr val="FFFFFF"/>
                </a:solidFill>
                <a:ea typeface="Pretendard Bold"/>
              </a:rPr>
              <a:t>김규원</a:t>
            </a:r>
            <a:endParaRPr lang="ko-KR" sz="35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62100" y="3314700"/>
            <a:ext cx="414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dirty="0">
                <a:solidFill>
                  <a:srgbClr val="EEEEEE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알고리즘 자료 조사 및 프로그램 작성</a:t>
            </a:r>
            <a:endParaRPr lang="en-US" sz="3000" b="0" i="0" u="none" strike="noStrike" dirty="0">
              <a:solidFill>
                <a:srgbClr val="EEEEE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62100" y="5702300"/>
            <a:ext cx="41275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C2C2C2"/>
                </a:solidFill>
                <a:ea typeface="Pretendard Regular"/>
              </a:rPr>
              <a:t>해당</a:t>
            </a:r>
            <a:r>
              <a:rPr lang="en-US" sz="2400" b="0" i="0" u="none" strike="noStrike" dirty="0">
                <a:solidFill>
                  <a:srgbClr val="C2C2C2"/>
                </a:solidFill>
                <a:latin typeface="Pretendard Regular"/>
              </a:rPr>
              <a:t> </a:t>
            </a:r>
            <a:r>
              <a:rPr lang="ko-KR" altLang="en-US" sz="2400" b="0" i="0" u="none" strike="noStrike" dirty="0">
                <a:solidFill>
                  <a:srgbClr val="C2C2C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프로그램을 위한 자료구조를 조사함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ea typeface="Pretendard Regular"/>
              </a:rPr>
              <a:t>프로그램 제작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AAB1EAE5-0D30-DB24-0ED8-1D2C83590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0" y="1930400"/>
            <a:ext cx="5295900" cy="7340600"/>
          </a:xfrm>
          <a:prstGeom prst="rect">
            <a:avLst/>
          </a:prstGeom>
          <a:effectLst>
            <a:outerShdw blurRad="348986" dist="203640" dir="4020000">
              <a:srgbClr val="000000">
                <a:alpha val="30000"/>
              </a:srgbClr>
            </a:outerShdw>
          </a:effec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A195403C-DC7B-39CA-6F39-7BDF2BB45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4071" y="1924050"/>
            <a:ext cx="5295900" cy="7340600"/>
          </a:xfrm>
          <a:prstGeom prst="rect">
            <a:avLst/>
          </a:prstGeom>
          <a:effectLst>
            <a:outerShdw blurRad="348986" dist="203640" dir="4020000">
              <a:srgbClr val="000000">
                <a:alpha val="3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9950" y="5143500"/>
            <a:ext cx="774700" cy="774700"/>
          </a:xfrm>
          <a:prstGeom prst="rect">
            <a:avLst/>
          </a:prstGeom>
        </p:spPr>
      </p:pic>
      <p:pic>
        <p:nvPicPr>
          <p:cNvPr id="25" name="Picture 7">
            <a:extLst>
              <a:ext uri="{FF2B5EF4-FFF2-40B4-BE49-F238E27FC236}">
                <a16:creationId xmlns:a16="http://schemas.microsoft.com/office/drawing/2014/main" id="{A452D7C9-52A8-5EC5-3DA6-FD75747BA5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6893" y="5143500"/>
            <a:ext cx="774700" cy="774700"/>
          </a:xfrm>
          <a:prstGeom prst="rect">
            <a:avLst/>
          </a:prstGeom>
        </p:spPr>
      </p:pic>
      <p:sp>
        <p:nvSpPr>
          <p:cNvPr id="5" name="TextBox 17">
            <a:extLst>
              <a:ext uri="{FF2B5EF4-FFF2-40B4-BE49-F238E27FC236}">
                <a16:creationId xmlns:a16="http://schemas.microsoft.com/office/drawing/2014/main" id="{4A0D2770-9CC1-372D-5449-85DCB8928D33}"/>
              </a:ext>
            </a:extLst>
          </p:cNvPr>
          <p:cNvSpPr txBox="1"/>
          <p:nvPr/>
        </p:nvSpPr>
        <p:spPr>
          <a:xfrm>
            <a:off x="7084786" y="3320143"/>
            <a:ext cx="414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dirty="0">
                <a:solidFill>
                  <a:srgbClr val="EEEEEE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일정 조율 및 프로그램 작성</a:t>
            </a:r>
            <a:endParaRPr lang="en-US" sz="3000" b="0" i="0" u="none" strike="noStrike" dirty="0">
              <a:solidFill>
                <a:srgbClr val="EEEEE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CB4396FF-2A62-9D76-7B1B-5E20F4251A7B}"/>
              </a:ext>
            </a:extLst>
          </p:cNvPr>
          <p:cNvSpPr txBox="1"/>
          <p:nvPr/>
        </p:nvSpPr>
        <p:spPr>
          <a:xfrm>
            <a:off x="12734925" y="3331029"/>
            <a:ext cx="414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dirty="0">
                <a:solidFill>
                  <a:srgbClr val="EEEEE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발표 준비 및 프로그램 작성</a:t>
            </a:r>
            <a:endParaRPr lang="en-US" sz="3000" b="0" i="0" u="none" strike="noStrike" dirty="0">
              <a:solidFill>
                <a:srgbClr val="EEEEE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F2CB1EA0-F479-4345-20AA-A0E16C7658E7}"/>
              </a:ext>
            </a:extLst>
          </p:cNvPr>
          <p:cNvSpPr txBox="1"/>
          <p:nvPr/>
        </p:nvSpPr>
        <p:spPr>
          <a:xfrm>
            <a:off x="7084786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500" dirty="0" err="1">
                <a:solidFill>
                  <a:srgbClr val="FFFFFF"/>
                </a:solidFill>
                <a:ea typeface="Pretendard Bold"/>
              </a:rPr>
              <a:t>김규산</a:t>
            </a:r>
            <a:endParaRPr lang="ko-KR" sz="35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C373DBB2-B464-EAF7-29C9-1DB53D3552D0}"/>
              </a:ext>
            </a:extLst>
          </p:cNvPr>
          <p:cNvSpPr txBox="1"/>
          <p:nvPr/>
        </p:nvSpPr>
        <p:spPr>
          <a:xfrm>
            <a:off x="12734925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500" b="0" i="0" u="none" strike="noStrike" dirty="0" err="1">
                <a:solidFill>
                  <a:srgbClr val="FFFFFF"/>
                </a:solidFill>
                <a:ea typeface="Pretendard Bold"/>
              </a:rPr>
              <a:t>곽고성</a:t>
            </a:r>
            <a:endParaRPr lang="ko-KR" sz="35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21" name="Picture 14" descr="ATOM 단색으로 채워진">
            <a:extLst>
              <a:ext uri="{FF2B5EF4-FFF2-40B4-BE49-F238E27FC236}">
                <a16:creationId xmlns:a16="http://schemas.microsoft.com/office/drawing/2014/main" id="{7C1F7939-027F-A2B4-A34F-B4AB42C2B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611758" y="2289176"/>
            <a:ext cx="746124" cy="746124"/>
          </a:xfrm>
          <a:prstGeom prst="rect">
            <a:avLst/>
          </a:prstGeom>
        </p:spPr>
      </p:pic>
      <p:pic>
        <p:nvPicPr>
          <p:cNvPr id="22" name="Picture 14" descr="클라우드 컴퓨팅 단색으로 채워진">
            <a:extLst>
              <a:ext uri="{FF2B5EF4-FFF2-40B4-BE49-F238E27FC236}">
                <a16:creationId xmlns:a16="http://schemas.microsoft.com/office/drawing/2014/main" id="{6BFBB37C-3611-FC84-3CE4-7AF3ED3BC1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085443" y="2289176"/>
            <a:ext cx="720724" cy="720724"/>
          </a:xfrm>
          <a:prstGeom prst="rect">
            <a:avLst/>
          </a:prstGeom>
        </p:spPr>
      </p:pic>
      <p:pic>
        <p:nvPicPr>
          <p:cNvPr id="26" name="Picture 14" descr="가로 막대형 차트 단색으로 채워진">
            <a:extLst>
              <a:ext uri="{FF2B5EF4-FFF2-40B4-BE49-F238E27FC236}">
                <a16:creationId xmlns:a16="http://schemas.microsoft.com/office/drawing/2014/main" id="{7B4043E1-69D4-0B4B-612B-C8B97CEF7F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6289565" y="2289176"/>
            <a:ext cx="786492" cy="786492"/>
          </a:xfrm>
          <a:prstGeom prst="rect">
            <a:avLst/>
          </a:prstGeom>
        </p:spPr>
      </p:pic>
      <p:sp>
        <p:nvSpPr>
          <p:cNvPr id="14" name="TextBox 18">
            <a:extLst>
              <a:ext uri="{FF2B5EF4-FFF2-40B4-BE49-F238E27FC236}">
                <a16:creationId xmlns:a16="http://schemas.microsoft.com/office/drawing/2014/main" id="{F41D78B7-6D87-A917-F833-E357790F7920}"/>
              </a:ext>
            </a:extLst>
          </p:cNvPr>
          <p:cNvSpPr txBox="1"/>
          <p:nvPr/>
        </p:nvSpPr>
        <p:spPr>
          <a:xfrm>
            <a:off x="12923837" y="5594350"/>
            <a:ext cx="41275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C2C2C2"/>
                </a:solidFill>
                <a:latin typeface="Pretendard Regular"/>
                <a:ea typeface="Pretendard Regular"/>
              </a:rPr>
              <a:t>발표 준비와 발표를 맡음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ea typeface="Pretendard Regular"/>
              </a:rPr>
              <a:t>프로그램 제작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FB790641-ED6E-ED90-790E-C9D4639F47BB}"/>
              </a:ext>
            </a:extLst>
          </p:cNvPr>
          <p:cNvSpPr txBox="1"/>
          <p:nvPr/>
        </p:nvSpPr>
        <p:spPr>
          <a:xfrm>
            <a:off x="7349218" y="5600700"/>
            <a:ext cx="41275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C2C2C2"/>
                </a:solidFill>
                <a:latin typeface="Pretendard Regular"/>
                <a:ea typeface="Pretendard Regular"/>
              </a:rPr>
              <a:t>일정 조율 및 프로젝트 진행을 </a:t>
            </a:r>
            <a:r>
              <a:rPr lang="ko-KR" altLang="en-US" sz="2400" dirty="0" err="1">
                <a:solidFill>
                  <a:srgbClr val="C2C2C2"/>
                </a:solidFill>
                <a:latin typeface="Pretendard Regular"/>
                <a:ea typeface="Pretendard Regular"/>
              </a:rPr>
              <a:t>이끔</a:t>
            </a:r>
            <a:r>
              <a:rPr lang="en-US" altLang="ko-KR" sz="2400" b="0" i="0" u="none" strike="noStrike" dirty="0">
                <a:solidFill>
                  <a:srgbClr val="C2C2C2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sz="2400" b="0" i="0" u="none" strike="noStrike" dirty="0">
              <a:solidFill>
                <a:srgbClr val="C2C2C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lvl="1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C2C2C2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C2C2C2"/>
                </a:solidFill>
                <a:ea typeface="Pretendard Regular"/>
              </a:rPr>
              <a:t>프로그램 제작</a:t>
            </a:r>
            <a:endParaRPr lang="en-US" sz="2400" b="0" i="0" u="none" strike="noStrike" dirty="0">
              <a:solidFill>
                <a:srgbClr val="C2C2C2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Contents 07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8902" y="2832100"/>
            <a:ext cx="8267109" cy="271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9600" b="1" i="0" u="none" strike="noStrike" dirty="0">
                <a:solidFill>
                  <a:srgbClr val="000000"/>
                </a:solidFill>
                <a:latin typeface="Pretendard Regular" panose="020B0600000101010101" charset="-127"/>
                <a:ea typeface="Pretendard Bold"/>
              </a:rPr>
              <a:t>Q&amp;A</a:t>
            </a:r>
            <a:endParaRPr lang="en-US" sz="9600" b="1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20800" y="7416800"/>
            <a:ext cx="84582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32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397</Words>
  <Application>Microsoft Office PowerPoint</Application>
  <PresentationFormat>사용자 지정</PresentationFormat>
  <Paragraphs>115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LG Smart UI SemiBold</vt:lpstr>
      <vt:lpstr>Pretendard Regular</vt:lpstr>
      <vt:lpstr>Pretendard Light</vt:lpstr>
      <vt:lpstr>Pretendard Medium</vt:lpstr>
      <vt:lpstr>Pretendard Bold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gram</dc:creator>
  <cp:lastModifiedBy>고성 곽</cp:lastModifiedBy>
  <cp:revision>9</cp:revision>
  <dcterms:created xsi:type="dcterms:W3CDTF">2006-08-16T00:00:00Z</dcterms:created>
  <dcterms:modified xsi:type="dcterms:W3CDTF">2025-05-01T10:56:02Z</dcterms:modified>
</cp:coreProperties>
</file>